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5" r:id="rId5"/>
    <p:sldId id="264" r:id="rId6"/>
    <p:sldId id="259" r:id="rId7"/>
    <p:sldId id="260" r:id="rId8"/>
    <p:sldId id="261" r:id="rId9"/>
    <p:sldId id="262" r:id="rId10"/>
    <p:sldId id="263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1708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1D484-FF3C-6EEF-5A13-574C8E4DD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880C58-4AC8-DFFF-852B-41B8EC18B2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8B8B88-BDAD-9B93-E115-FC14B6D882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F84AFF-E37B-13E6-D01B-83CF17A344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2733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C8043-501C-2F92-35EB-C4FD1A412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C13E1B-C00A-F26E-933C-E48299A336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629193-34FF-B4E4-D38A-32DFC2E5E8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86085-3552-9B0C-9E4B-FBE6A07B38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2045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D5C73"/>
          </a:solidFill>
          <a:ln w="12700">
            <a:solidFill>
              <a:srgbClr val="0D5C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188720"/>
            <a:ext cx="9144000" cy="50292"/>
          </a:xfrm>
          <a:prstGeom prst="rect">
            <a:avLst/>
          </a:prstGeom>
          <a:solidFill>
            <a:srgbClr val="C8873C"/>
          </a:solidFill>
          <a:ln w="12700">
            <a:solidFill>
              <a:srgbClr val="C887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306342"/>
            <a:ext cx="8839078" cy="836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Conference on Intelligent Systems and Artificial Intelligence Applications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kern="0" spc="400" dirty="0">
                <a:solidFill>
                  <a:srgbClr val="0D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 2026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731520" y="2045271"/>
            <a:ext cx="7680960" cy="749808"/>
          </a:xfrm>
          <a:prstGeom prst="rect">
            <a:avLst/>
          </a:prstGeom>
          <a:solidFill>
            <a:srgbClr val="EAF4F8"/>
          </a:solidFill>
          <a:ln w="12700">
            <a:solidFill>
              <a:srgbClr val="C8D4D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22960" y="2045271"/>
            <a:ext cx="7498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Smart </a:t>
            </a:r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Agro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System for Crop Recommendation Using Deep Learning</a:t>
            </a:r>
          </a:p>
        </p:txBody>
      </p:sp>
      <p:sp>
        <p:nvSpPr>
          <p:cNvPr id="8" name="Text 6"/>
          <p:cNvSpPr/>
          <p:nvPr/>
        </p:nvSpPr>
        <p:spPr>
          <a:xfrm>
            <a:off x="457200" y="2788802"/>
            <a:ext cx="8229600" cy="7507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2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Pindi Venkata Nageswara Rao (Presenter), Pagadala Usha, Adapa Nishitha, </a:t>
            </a:r>
            <a:r>
              <a:rPr lang="en-US" sz="1200" b="1" dirty="0" err="1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Chokkapu</a:t>
            </a:r>
            <a:r>
              <a:rPr lang="en-US" sz="12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Rohith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Electronics and Communication Engineering 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Institute of Technology Andhra Pradesh, India 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200" dirty="0">
                <a:solidFill>
                  <a:srgbClr val="0D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pindivenkat24@gmail.com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349256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by</a:t>
            </a:r>
            <a:endParaRPr lang="en-US" sz="9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3791" y="3705122"/>
            <a:ext cx="1663347" cy="520700"/>
          </a:xfrm>
          <a:prstGeom prst="rect">
            <a:avLst/>
          </a:prstGeom>
        </p:spPr>
      </p:pic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4826" y="3639312"/>
            <a:ext cx="704088" cy="658368"/>
          </a:xfrm>
          <a:prstGeom prst="rect">
            <a:avLst/>
          </a:prstGeom>
        </p:spPr>
      </p:pic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9226" y="3639312"/>
            <a:ext cx="786384" cy="658368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0" y="4407408"/>
            <a:ext cx="9144000" cy="466344"/>
          </a:xfrm>
          <a:prstGeom prst="rect">
            <a:avLst/>
          </a:prstGeom>
          <a:solidFill>
            <a:srgbClr val="F5E8D5"/>
          </a:solidFill>
          <a:ln w="6350">
            <a:solidFill>
              <a:srgbClr val="C887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9"/>
          <p:cNvSpPr/>
          <p:nvPr/>
        </p:nvSpPr>
        <p:spPr>
          <a:xfrm>
            <a:off x="182880" y="4407408"/>
            <a:ext cx="10058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Sponsors:</a:t>
            </a:r>
            <a:endParaRPr lang="en-US" sz="900" dirty="0"/>
          </a:p>
        </p:txBody>
      </p:sp>
      <p:sp>
        <p:nvSpPr>
          <p:cNvPr id="20" name="Shape 1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5C73"/>
          </a:solidFill>
          <a:ln w="12700">
            <a:solidFill>
              <a:srgbClr val="0D5C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3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1-2, 2026  ·  University of Nizwa, Nizwa, Sultanate of Oman  ·  Hybrid Mode: Virtual &amp; Physical</a:t>
            </a:r>
            <a:endParaRPr lang="en-US" sz="9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B3E7C09-3F2C-5453-9011-DD2836A26A5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5424" y="3596422"/>
            <a:ext cx="1437376" cy="744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1640469-0701-CA26-9944-37EEB15D22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9368" y="4425420"/>
            <a:ext cx="2529546" cy="448332"/>
          </a:xfrm>
          <a:prstGeom prst="rect">
            <a:avLst/>
          </a:prstGeom>
        </p:spPr>
      </p:pic>
      <p:pic>
        <p:nvPicPr>
          <p:cNvPr id="1026" name="Picture 2" descr="ISAA 2026 Logo">
            <a:extLst>
              <a:ext uri="{FF2B5EF4-FFF2-40B4-BE49-F238E27FC236}">
                <a16:creationId xmlns:a16="http://schemas.microsoft.com/office/drawing/2014/main" id="{07AF7361-2144-D1D9-891C-44DBF0AB9F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9997" y="1252073"/>
            <a:ext cx="733693" cy="744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ISAA 2026 Logo">
            <a:extLst>
              <a:ext uri="{FF2B5EF4-FFF2-40B4-BE49-F238E27FC236}">
                <a16:creationId xmlns:a16="http://schemas.microsoft.com/office/drawing/2014/main" id="{3B5C06D7-A11A-B8B1-54A8-BB33BE5C43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0311" y="1273518"/>
            <a:ext cx="733693" cy="744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0D5C73"/>
          </a:solidFill>
          <a:ln w="12700">
            <a:solidFill>
              <a:srgbClr val="0D5C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27432"/>
          </a:xfrm>
          <a:prstGeom prst="rect">
            <a:avLst/>
          </a:prstGeom>
          <a:solidFill>
            <a:srgbClr val="C8873C"/>
          </a:solidFill>
          <a:ln w="12700">
            <a:solidFill>
              <a:srgbClr val="C887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5C73"/>
          </a:solidFill>
          <a:ln w="12700">
            <a:solidFill>
              <a:srgbClr val="0D5C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873752"/>
            <a:ext cx="77724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 2026  ·  April 1-2, 2026  ·  University of Nizwa, Oman  ·  isaa2026@unizwa.edu.om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4873752"/>
            <a:ext cx="54864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[Page]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3040" y="1033272"/>
            <a:ext cx="411480" cy="411480"/>
          </a:xfrm>
          <a:prstGeom prst="ellipse">
            <a:avLst/>
          </a:prstGeom>
          <a:solidFill>
            <a:srgbClr val="0D5C7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93040" y="10332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0240" y="978408"/>
            <a:ext cx="3931920" cy="566928"/>
          </a:xfrm>
          <a:prstGeom prst="rect">
            <a:avLst/>
          </a:prstGeom>
          <a:solidFill>
            <a:srgbClr val="EAF4F8"/>
          </a:solidFill>
          <a:ln w="6350">
            <a:solidFill>
              <a:srgbClr val="C8D4D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87400" y="987552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Motivation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93040" y="1856232"/>
            <a:ext cx="411480" cy="411480"/>
          </a:xfrm>
          <a:prstGeom prst="ellipse">
            <a:avLst/>
          </a:prstGeom>
          <a:solidFill>
            <a:srgbClr val="C8873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93040" y="1856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50240" y="1792224"/>
            <a:ext cx="3931920" cy="566928"/>
          </a:xfrm>
          <a:prstGeom prst="rect">
            <a:avLst/>
          </a:prstGeom>
          <a:solidFill>
            <a:srgbClr val="F5E8D5"/>
          </a:solidFill>
          <a:ln w="6350">
            <a:solidFill>
              <a:srgbClr val="C8D4D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77240" y="1819656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/ Related Work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193040" y="2679192"/>
            <a:ext cx="411480" cy="411480"/>
          </a:xfrm>
          <a:prstGeom prst="ellipse">
            <a:avLst/>
          </a:prstGeom>
          <a:solidFill>
            <a:srgbClr val="0D5C7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93040" y="26791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50240" y="2615184"/>
            <a:ext cx="3931920" cy="566928"/>
          </a:xfrm>
          <a:prstGeom prst="rect">
            <a:avLst/>
          </a:prstGeom>
          <a:solidFill>
            <a:srgbClr val="EAF4F8"/>
          </a:solidFill>
          <a:ln w="6350">
            <a:solidFill>
              <a:srgbClr val="C8D4D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87400" y="2604516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193040" y="3502152"/>
            <a:ext cx="411480" cy="411480"/>
          </a:xfrm>
          <a:prstGeom prst="ellipse">
            <a:avLst/>
          </a:prstGeom>
          <a:solidFill>
            <a:srgbClr val="C8873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93040" y="3502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50240" y="3429000"/>
            <a:ext cx="3931920" cy="566928"/>
          </a:xfrm>
          <a:prstGeom prst="rect">
            <a:avLst/>
          </a:prstGeom>
          <a:solidFill>
            <a:srgbClr val="F5E8D5"/>
          </a:solidFill>
          <a:ln w="6350">
            <a:solidFill>
              <a:srgbClr val="C8D4D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77240" y="349758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4673600" y="1033272"/>
            <a:ext cx="411480" cy="411480"/>
          </a:xfrm>
          <a:prstGeom prst="ellipse">
            <a:avLst/>
          </a:prstGeom>
          <a:solidFill>
            <a:srgbClr val="0D5C7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673600" y="10332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140960" y="960120"/>
            <a:ext cx="3931920" cy="566928"/>
          </a:xfrm>
          <a:prstGeom prst="rect">
            <a:avLst/>
          </a:prstGeom>
          <a:solidFill>
            <a:srgbClr val="EAF4F8"/>
          </a:solidFill>
          <a:ln w="6350">
            <a:solidFill>
              <a:srgbClr val="C8D4D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252720" y="978408"/>
            <a:ext cx="3845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 &amp; Datasets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4673600" y="1856232"/>
            <a:ext cx="411480" cy="411480"/>
          </a:xfrm>
          <a:prstGeom prst="ellipse">
            <a:avLst/>
          </a:prstGeom>
          <a:solidFill>
            <a:srgbClr val="C8873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673600" y="1856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140960" y="1737360"/>
            <a:ext cx="3931920" cy="566928"/>
          </a:xfrm>
          <a:prstGeom prst="rect">
            <a:avLst/>
          </a:prstGeom>
          <a:solidFill>
            <a:srgbClr val="F5E8D5"/>
          </a:solidFill>
          <a:ln w="6350">
            <a:solidFill>
              <a:srgbClr val="C8D4D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252720" y="1801368"/>
            <a:ext cx="3845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Discussion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4673600" y="2679192"/>
            <a:ext cx="411480" cy="411480"/>
          </a:xfrm>
          <a:prstGeom prst="ellipse">
            <a:avLst/>
          </a:prstGeom>
          <a:solidFill>
            <a:srgbClr val="0D5C7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673600" y="26791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140960" y="2555748"/>
            <a:ext cx="3931920" cy="566928"/>
          </a:xfrm>
          <a:prstGeom prst="rect">
            <a:avLst/>
          </a:prstGeom>
          <a:solidFill>
            <a:srgbClr val="EAF4F8"/>
          </a:solidFill>
          <a:ln w="6350">
            <a:solidFill>
              <a:srgbClr val="C8D4D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278120" y="2624328"/>
            <a:ext cx="382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0D5C73"/>
          </a:solidFill>
          <a:ln w="12700">
            <a:solidFill>
              <a:srgbClr val="0D5C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27432"/>
          </a:xfrm>
          <a:prstGeom prst="rect">
            <a:avLst/>
          </a:prstGeom>
          <a:solidFill>
            <a:srgbClr val="C8873C"/>
          </a:solidFill>
          <a:ln w="12700">
            <a:solidFill>
              <a:srgbClr val="C887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5C73"/>
          </a:solidFill>
          <a:ln w="12700">
            <a:solidFill>
              <a:srgbClr val="0D5C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873752"/>
            <a:ext cx="77724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 2026  ·  April 1-2, 2026  ·  University of Nizwa, Oman  ·  isaa2026@unizwa.edu.om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4873752"/>
            <a:ext cx="54864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[Page]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9144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Motivation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325880"/>
            <a:ext cx="530352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/>
              <a:t>Modern agriculture is highly dependent on </a:t>
            </a:r>
            <a:r>
              <a:rPr lang="en-US" sz="1400" b="1" dirty="0"/>
              <a:t>soil characteristics and climatic conditions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/>
              <a:t>Traditional farming practices rely on experience and </a:t>
            </a:r>
            <a:r>
              <a:rPr lang="en-IN" sz="1400" dirty="0"/>
              <a:t>intuition</a:t>
            </a:r>
            <a:r>
              <a:rPr lang="en-US" sz="1400" dirty="0"/>
              <a:t>, often leading to </a:t>
            </a:r>
            <a:r>
              <a:rPr lang="en-US" sz="1400" b="1" dirty="0"/>
              <a:t>inconsistent and suboptimal crop selection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/>
              <a:t>Farmers struggle to make reliable crop decisions due to </a:t>
            </a:r>
            <a:r>
              <a:rPr lang="en-US" sz="1400" b="1" dirty="0"/>
              <a:t>unpredictable</a:t>
            </a:r>
            <a:r>
              <a:rPr lang="en-US" sz="1400" dirty="0"/>
              <a:t> </a:t>
            </a:r>
            <a:r>
              <a:rPr lang="en-US" sz="1400" b="1" dirty="0"/>
              <a:t>weather </a:t>
            </a:r>
            <a:r>
              <a:rPr lang="en-US" sz="1400" dirty="0"/>
              <a:t>and</a:t>
            </a:r>
            <a:r>
              <a:rPr lang="en-US" sz="1400" b="1" dirty="0"/>
              <a:t> soil </a:t>
            </a:r>
            <a:r>
              <a:rPr lang="en-US" sz="1400" dirty="0"/>
              <a:t>conditions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/>
              <a:t>There is a strong need for an </a:t>
            </a:r>
            <a:r>
              <a:rPr lang="en-US" sz="1400" b="1" dirty="0"/>
              <a:t>Adaptive Intelligent, data-centric crop recommendation system</a:t>
            </a:r>
            <a:r>
              <a:rPr lang="en-US" sz="1400" dirty="0"/>
              <a:t> for precision agriculture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0" y="868680"/>
            <a:ext cx="3108960" cy="2898648"/>
          </a:xfrm>
          <a:prstGeom prst="rect">
            <a:avLst/>
          </a:prstGeom>
          <a:solidFill>
            <a:srgbClr val="EAF4F8"/>
          </a:solidFill>
          <a:ln w="12700">
            <a:solidFill>
              <a:srgbClr val="C8D4D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69280" y="868680"/>
            <a:ext cx="3108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840480"/>
            <a:ext cx="8412480" cy="658368"/>
          </a:xfrm>
          <a:prstGeom prst="rect">
            <a:avLst/>
          </a:prstGeom>
          <a:solidFill>
            <a:srgbClr val="F5E8D5"/>
          </a:solidFill>
          <a:ln w="12700">
            <a:solidFill>
              <a:srgbClr val="C8873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02920" y="38404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i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Objective: </a:t>
            </a:r>
            <a:r>
              <a:rPr lang="en-US" sz="1400" i="1" dirty="0"/>
              <a:t>To design a </a:t>
            </a:r>
            <a:r>
              <a:rPr lang="en-IN" sz="1400" i="1" dirty="0"/>
              <a:t>hybrid </a:t>
            </a:r>
            <a:r>
              <a:rPr lang="en-US" sz="1400" i="1" dirty="0"/>
              <a:t>AI-based system that combines soil </a:t>
            </a:r>
            <a:r>
              <a:rPr lang="en-IN" sz="1400" i="1" dirty="0"/>
              <a:t>image</a:t>
            </a:r>
            <a:r>
              <a:rPr lang="en-IN" sz="1400" dirty="0"/>
              <a:t> </a:t>
            </a:r>
            <a:r>
              <a:rPr lang="en-US" sz="1400" i="1" dirty="0"/>
              <a:t>analysis, </a:t>
            </a:r>
            <a:r>
              <a:rPr lang="en-IN" sz="1400" i="1" dirty="0"/>
              <a:t>User-defined soil parameters,</a:t>
            </a:r>
            <a:r>
              <a:rPr lang="en-US" sz="1400" i="1" dirty="0"/>
              <a:t> and </a:t>
            </a:r>
            <a:r>
              <a:rPr lang="en-IN" sz="1400" i="1" dirty="0"/>
              <a:t>real-time</a:t>
            </a:r>
            <a:r>
              <a:rPr lang="en-US" sz="1400" i="1" dirty="0"/>
              <a:t> weather data for accurate crop recommendations</a:t>
            </a:r>
            <a:r>
              <a:rPr lang="en-US" sz="1400" dirty="0"/>
              <a:t>.</a:t>
            </a:r>
            <a:endParaRPr lang="en-US" sz="13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32DBABE-8BB9-141D-5C79-631B87028C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418" y="960120"/>
            <a:ext cx="2978684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228984-A35E-FECF-BEC3-3A03A4794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AD46A7C-B366-C0AD-7923-A837F7890BF1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AB2589D-AD8D-010B-3AFF-91BE72D6718F}"/>
              </a:ext>
            </a:extLst>
          </p:cNvPr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0D5C73"/>
          </a:solidFill>
          <a:ln w="12700">
            <a:solidFill>
              <a:srgbClr val="0D5C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3AFB1A2-523F-7286-B9A7-2DE59B29A6F3}"/>
              </a:ext>
            </a:extLst>
          </p:cNvPr>
          <p:cNvSpPr/>
          <p:nvPr/>
        </p:nvSpPr>
        <p:spPr>
          <a:xfrm>
            <a:off x="0" y="777240"/>
            <a:ext cx="9144000" cy="27432"/>
          </a:xfrm>
          <a:prstGeom prst="rect">
            <a:avLst/>
          </a:prstGeom>
          <a:solidFill>
            <a:srgbClr val="C8873C"/>
          </a:solidFill>
          <a:ln w="12700">
            <a:solidFill>
              <a:srgbClr val="C887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7A94BEC-968F-C771-C7D0-9A121290E05B}"/>
              </a:ext>
            </a:extLst>
          </p:cNvPr>
          <p:cNvSpPr/>
          <p:nvPr/>
        </p:nvSpPr>
        <p:spPr>
          <a:xfrm>
            <a:off x="256032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2400" b="1" dirty="0"/>
              <a:t>Literature Review / Related Work</a:t>
            </a:r>
            <a:endParaRPr lang="en-US" sz="22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2BC79C3-00C5-03A9-E4CA-05F4B3EF4E6F}"/>
              </a:ext>
            </a:extLst>
          </p:cNvPr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5C73"/>
          </a:solidFill>
          <a:ln w="12700">
            <a:solidFill>
              <a:srgbClr val="0D5C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6CA8F64-AF53-8535-7102-C6004FE65AFD}"/>
              </a:ext>
            </a:extLst>
          </p:cNvPr>
          <p:cNvSpPr/>
          <p:nvPr/>
        </p:nvSpPr>
        <p:spPr>
          <a:xfrm>
            <a:off x="274320" y="4873752"/>
            <a:ext cx="77724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 2026  ·  April 1-2, 2026  ·  University of Nizwa, Oman  ·  isaa2026@unizwa.edu.om</a:t>
            </a:r>
            <a:endParaRPr lang="en-US" sz="9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C407662-18F2-6BD9-60AD-B239B0BAEF45}"/>
              </a:ext>
            </a:extLst>
          </p:cNvPr>
          <p:cNvSpPr/>
          <p:nvPr/>
        </p:nvSpPr>
        <p:spPr>
          <a:xfrm>
            <a:off x="8503920" y="4873752"/>
            <a:ext cx="54864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[Page]</a:t>
            </a:r>
            <a:endParaRPr lang="en-US" sz="9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3C34853-492D-D076-2196-997A9283D156}"/>
              </a:ext>
            </a:extLst>
          </p:cNvPr>
          <p:cNvSpPr/>
          <p:nvPr/>
        </p:nvSpPr>
        <p:spPr>
          <a:xfrm>
            <a:off x="365760" y="26060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8DEBFE8-DC30-9BE2-65D1-79CED5E8420C}"/>
              </a:ext>
            </a:extLst>
          </p:cNvPr>
          <p:cNvSpPr/>
          <p:nvPr/>
        </p:nvSpPr>
        <p:spPr>
          <a:xfrm>
            <a:off x="358023" y="584930"/>
            <a:ext cx="7568418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Traditional ML models (e.g., </a:t>
            </a:r>
            <a:r>
              <a:rPr lang="en-US" sz="1400" b="1" dirty="0"/>
              <a:t>Decision Tree, SVM, Random Forest</a:t>
            </a:r>
            <a:r>
              <a:rPr lang="en-US" sz="1400" dirty="0"/>
              <a:t>) used for crop prediction based on </a:t>
            </a:r>
            <a:r>
              <a:rPr lang="en-US" sz="1400" b="1" dirty="0"/>
              <a:t>soil nutrients and weather data</a:t>
            </a:r>
            <a:r>
              <a:rPr lang="en-U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Deep learning approaches (CNN) applied for </a:t>
            </a:r>
            <a:r>
              <a:rPr lang="en-US" sz="1400" b="1" dirty="0"/>
              <a:t>soil image classification</a:t>
            </a:r>
            <a:r>
              <a:rPr lang="en-US" sz="1400" dirty="0"/>
              <a:t> to identify soil types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Some systems utilize </a:t>
            </a:r>
            <a:r>
              <a:rPr lang="en-US" sz="1400" b="1" dirty="0"/>
              <a:t>weather-based recommendations</a:t>
            </a:r>
            <a:r>
              <a:rPr lang="en-US" sz="1400" dirty="0"/>
              <a:t>, but lack integration with soil characteristics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Most existing methods rely on a </a:t>
            </a:r>
            <a:r>
              <a:rPr lang="en-US" sz="1400" b="1" dirty="0"/>
              <a:t>single data source</a:t>
            </a:r>
            <a:r>
              <a:rPr lang="en-US" sz="1400" dirty="0"/>
              <a:t>, limiting prediction accuracy 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109EB11-C897-6138-444F-007F86066964}"/>
              </a:ext>
            </a:extLst>
          </p:cNvPr>
          <p:cNvSpPr/>
          <p:nvPr/>
        </p:nvSpPr>
        <p:spPr>
          <a:xfrm>
            <a:off x="5669280" y="868680"/>
            <a:ext cx="3108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4802BEBD-5B8E-0BA5-9C9C-F7EFBF628200}"/>
              </a:ext>
            </a:extLst>
          </p:cNvPr>
          <p:cNvSpPr/>
          <p:nvPr/>
        </p:nvSpPr>
        <p:spPr>
          <a:xfrm>
            <a:off x="365760" y="2706052"/>
            <a:ext cx="6850966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D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AC49EB-6A7F-4A27-DA9F-1003E1B07EC0}"/>
              </a:ext>
            </a:extLst>
          </p:cNvPr>
          <p:cNvSpPr txBox="1"/>
          <p:nvPr/>
        </p:nvSpPr>
        <p:spPr>
          <a:xfrm>
            <a:off x="365759" y="3224156"/>
            <a:ext cx="6625883" cy="1351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/>
              <a:t>Lack of integration of </a:t>
            </a:r>
            <a:r>
              <a:rPr lang="en-US" sz="1400" b="1" dirty="0"/>
              <a:t>visual soil image-based information with environmental data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/>
              <a:t>Limited use of </a:t>
            </a:r>
            <a:r>
              <a:rPr lang="en-US" sz="1400" b="1" dirty="0"/>
              <a:t>hybrid AI models (CNN + Ensemble ML)</a:t>
            </a:r>
            <a:r>
              <a:rPr lang="en-US" sz="1400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/>
              <a:t>Absence of </a:t>
            </a:r>
            <a:r>
              <a:rPr lang="en-US" sz="1400" b="1" dirty="0"/>
              <a:t>real-time </a:t>
            </a:r>
            <a:r>
              <a:rPr lang="en-US" sz="1400" dirty="0"/>
              <a:t>systems combining </a:t>
            </a:r>
            <a:r>
              <a:rPr lang="en-IN" sz="1400" b="1" dirty="0"/>
              <a:t>image + weather + user input</a:t>
            </a:r>
            <a:endParaRPr lang="en-US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IN" sz="1400" dirty="0"/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377CD7A3-0560-34A0-300C-AF7A0F2373C4}"/>
              </a:ext>
            </a:extLst>
          </p:cNvPr>
          <p:cNvSpPr/>
          <p:nvPr/>
        </p:nvSpPr>
        <p:spPr>
          <a:xfrm>
            <a:off x="417811" y="2746432"/>
            <a:ext cx="1664207" cy="377014"/>
          </a:xfrm>
          <a:prstGeom prst="rect">
            <a:avLst/>
          </a:prstGeom>
          <a:solidFill>
            <a:srgbClr val="0D5C73"/>
          </a:solidFill>
          <a:ln w="12700">
            <a:solidFill>
              <a:srgbClr val="0D5C73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6227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F55B2C-1FA6-625C-1A36-546AA79B2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745D1B6-1C02-76E3-FC03-F40BC3BA8571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035C66E-9D67-87E6-D956-2D96196B45E7}"/>
              </a:ext>
            </a:extLst>
          </p:cNvPr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0D5C73"/>
          </a:solidFill>
          <a:ln w="12700">
            <a:solidFill>
              <a:srgbClr val="0D5C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7CDBB23-797C-8FF1-13E5-7F78DA42D7F5}"/>
              </a:ext>
            </a:extLst>
          </p:cNvPr>
          <p:cNvSpPr/>
          <p:nvPr/>
        </p:nvSpPr>
        <p:spPr>
          <a:xfrm>
            <a:off x="0" y="777240"/>
            <a:ext cx="9144000" cy="27432"/>
          </a:xfrm>
          <a:prstGeom prst="rect">
            <a:avLst/>
          </a:prstGeom>
          <a:solidFill>
            <a:srgbClr val="C8873C"/>
          </a:solidFill>
          <a:ln w="12700">
            <a:solidFill>
              <a:srgbClr val="C887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A2EC735-9287-1832-A745-3219EADD638A}"/>
              </a:ext>
            </a:extLst>
          </p:cNvPr>
          <p:cNvSpPr/>
          <p:nvPr/>
        </p:nvSpPr>
        <p:spPr>
          <a:xfrm>
            <a:off x="256032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22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E4413FB-6F35-F1EC-76D9-27E92322ADA8}"/>
              </a:ext>
            </a:extLst>
          </p:cNvPr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5C73"/>
          </a:solidFill>
          <a:ln w="12700">
            <a:solidFill>
              <a:srgbClr val="0D5C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41CC8D0-680F-DF6E-BA7F-9C9543B2D496}"/>
              </a:ext>
            </a:extLst>
          </p:cNvPr>
          <p:cNvSpPr/>
          <p:nvPr/>
        </p:nvSpPr>
        <p:spPr>
          <a:xfrm>
            <a:off x="274320" y="4873752"/>
            <a:ext cx="77724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 2026  ·  April 1-2, 2026  ·  University of Nizwa, Oman  ·  isaa2026@unizwa.edu.om</a:t>
            </a:r>
            <a:endParaRPr lang="en-US" sz="9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936CB16-150F-7AF2-70FC-1D1C58846777}"/>
              </a:ext>
            </a:extLst>
          </p:cNvPr>
          <p:cNvSpPr/>
          <p:nvPr/>
        </p:nvSpPr>
        <p:spPr>
          <a:xfrm>
            <a:off x="8503920" y="4873752"/>
            <a:ext cx="54864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[Page]</a:t>
            </a:r>
            <a:endParaRPr lang="en-US" sz="9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451B778-D468-B24F-56F2-78216749765A}"/>
              </a:ext>
            </a:extLst>
          </p:cNvPr>
          <p:cNvSpPr/>
          <p:nvPr/>
        </p:nvSpPr>
        <p:spPr>
          <a:xfrm>
            <a:off x="365760" y="960120"/>
            <a:ext cx="495182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D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E72C3D67-D189-EEB4-6C99-6660DDC48A57}"/>
              </a:ext>
            </a:extLst>
          </p:cNvPr>
          <p:cNvSpPr/>
          <p:nvPr/>
        </p:nvSpPr>
        <p:spPr>
          <a:xfrm>
            <a:off x="365760" y="960120"/>
            <a:ext cx="91440" cy="1051560"/>
          </a:xfrm>
          <a:prstGeom prst="rect">
            <a:avLst/>
          </a:prstGeom>
          <a:solidFill>
            <a:srgbClr val="0D5C73"/>
          </a:solidFill>
          <a:ln w="12700">
            <a:solidFill>
              <a:srgbClr val="0D5C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D851AB9-0547-3BE0-8E6D-4DF0CB8E6683}"/>
              </a:ext>
            </a:extLst>
          </p:cNvPr>
          <p:cNvSpPr/>
          <p:nvPr/>
        </p:nvSpPr>
        <p:spPr>
          <a:xfrm>
            <a:off x="548640" y="100584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8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88B3D3A-F054-D936-FC35-64D082852473}"/>
              </a:ext>
            </a:extLst>
          </p:cNvPr>
          <p:cNvSpPr/>
          <p:nvPr/>
        </p:nvSpPr>
        <p:spPr>
          <a:xfrm>
            <a:off x="868680" y="997076"/>
            <a:ext cx="121333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1B55778-2769-4CB2-F0D8-9345024F07F2}"/>
              </a:ext>
            </a:extLst>
          </p:cNvPr>
          <p:cNvSpPr/>
          <p:nvPr/>
        </p:nvSpPr>
        <p:spPr>
          <a:xfrm>
            <a:off x="1234440" y="139903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AE6D2390-BAA3-1357-82B6-A6486E4DECFA}"/>
              </a:ext>
            </a:extLst>
          </p:cNvPr>
          <p:cNvSpPr/>
          <p:nvPr/>
        </p:nvSpPr>
        <p:spPr>
          <a:xfrm>
            <a:off x="365758" y="2167128"/>
            <a:ext cx="495182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D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9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573DAFA3-5F37-01D3-48A6-01AF17C82A5F}"/>
              </a:ext>
            </a:extLst>
          </p:cNvPr>
          <p:cNvSpPr/>
          <p:nvPr/>
        </p:nvSpPr>
        <p:spPr>
          <a:xfrm>
            <a:off x="365760" y="2167128"/>
            <a:ext cx="91440" cy="1051560"/>
          </a:xfrm>
          <a:prstGeom prst="rect">
            <a:avLst/>
          </a:prstGeom>
          <a:solidFill>
            <a:srgbClr val="0D5C73"/>
          </a:solidFill>
          <a:ln w="12700">
            <a:solidFill>
              <a:srgbClr val="0D5C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8C8058F-DA49-C58E-54E4-2B94D6B646B3}"/>
              </a:ext>
            </a:extLst>
          </p:cNvPr>
          <p:cNvSpPr/>
          <p:nvPr/>
        </p:nvSpPr>
        <p:spPr>
          <a:xfrm>
            <a:off x="548640" y="2134110"/>
            <a:ext cx="320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8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87FF2D71-2E76-2AAF-B34B-810FFCD7794B}"/>
              </a:ext>
            </a:extLst>
          </p:cNvPr>
          <p:cNvSpPr/>
          <p:nvPr/>
        </p:nvSpPr>
        <p:spPr>
          <a:xfrm>
            <a:off x="868680" y="2189988"/>
            <a:ext cx="110783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Design</a:t>
            </a:r>
            <a:endParaRPr lang="en-US" sz="14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812D520D-BA27-7FE1-EA39-27AAF601BEC4}"/>
              </a:ext>
            </a:extLst>
          </p:cNvPr>
          <p:cNvSpPr/>
          <p:nvPr/>
        </p:nvSpPr>
        <p:spPr>
          <a:xfrm>
            <a:off x="1234440" y="26060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3F587AF6-744C-9E37-E9EA-C800381EE775}"/>
              </a:ext>
            </a:extLst>
          </p:cNvPr>
          <p:cNvSpPr/>
          <p:nvPr/>
        </p:nvSpPr>
        <p:spPr>
          <a:xfrm>
            <a:off x="365758" y="3362584"/>
            <a:ext cx="4951827" cy="11020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D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4FCAFBFE-1642-76B3-45BD-DFA9A44F519E}"/>
              </a:ext>
            </a:extLst>
          </p:cNvPr>
          <p:cNvSpPr/>
          <p:nvPr/>
        </p:nvSpPr>
        <p:spPr>
          <a:xfrm>
            <a:off x="365760" y="3374136"/>
            <a:ext cx="91440" cy="1090508"/>
          </a:xfrm>
          <a:prstGeom prst="rect">
            <a:avLst/>
          </a:prstGeom>
          <a:solidFill>
            <a:srgbClr val="0D5C73"/>
          </a:solidFill>
          <a:ln w="12700">
            <a:solidFill>
              <a:srgbClr val="0D5C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96BB3536-B594-3FA2-DE0A-25FF80C038CB}"/>
              </a:ext>
            </a:extLst>
          </p:cNvPr>
          <p:cNvSpPr/>
          <p:nvPr/>
        </p:nvSpPr>
        <p:spPr>
          <a:xfrm>
            <a:off x="531848" y="3291162"/>
            <a:ext cx="34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8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14B7F315-DF14-F241-031E-2196CBDA414D}"/>
              </a:ext>
            </a:extLst>
          </p:cNvPr>
          <p:cNvSpPr/>
          <p:nvPr/>
        </p:nvSpPr>
        <p:spPr>
          <a:xfrm>
            <a:off x="868680" y="3319678"/>
            <a:ext cx="84757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2B56C1A3-0A65-C076-948E-51ACE8621B2D}"/>
              </a:ext>
            </a:extLst>
          </p:cNvPr>
          <p:cNvSpPr/>
          <p:nvPr/>
        </p:nvSpPr>
        <p:spPr>
          <a:xfrm>
            <a:off x="5486400" y="914400"/>
            <a:ext cx="3291840" cy="3639312"/>
          </a:xfrm>
          <a:prstGeom prst="rect">
            <a:avLst/>
          </a:prstGeom>
          <a:solidFill>
            <a:srgbClr val="EAF4F8"/>
          </a:solidFill>
          <a:ln w="12700">
            <a:solidFill>
              <a:srgbClr val="C8D4D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951698CF-10C5-7F6B-9AA2-766BB6086105}"/>
              </a:ext>
            </a:extLst>
          </p:cNvPr>
          <p:cNvSpPr/>
          <p:nvPr/>
        </p:nvSpPr>
        <p:spPr>
          <a:xfrm>
            <a:off x="5486400" y="914400"/>
            <a:ext cx="329184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476FA91-3428-731B-59E4-AFAA5F0116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8119" y="983331"/>
            <a:ext cx="3168402" cy="3442365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D265EAD2-A1E8-6CE7-245E-0331F62476E0}"/>
              </a:ext>
            </a:extLst>
          </p:cNvPr>
          <p:cNvSpPr txBox="1"/>
          <p:nvPr/>
        </p:nvSpPr>
        <p:spPr>
          <a:xfrm>
            <a:off x="694766" y="1261723"/>
            <a:ext cx="49518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900" b="1" dirty="0">
                <a:latin typeface="Arial" panose="020B0604020202020204" pitchFamily="34" charset="0"/>
              </a:rPr>
              <a:t>  Soil Images:</a:t>
            </a:r>
            <a:r>
              <a:rPr lang="en-US" altLang="en-US" sz="900" dirty="0">
                <a:latin typeface="Arial" panose="020B0604020202020204" pitchFamily="34" charset="0"/>
              </a:rPr>
              <a:t> 2537 images (5 types), </a:t>
            </a:r>
            <a:r>
              <a:rPr lang="en-US" altLang="en-US" sz="900" b="1" dirty="0">
                <a:latin typeface="Arial" panose="020B0604020202020204" pitchFamily="34" charset="0"/>
              </a:rPr>
              <a:t>Source - </a:t>
            </a:r>
            <a:r>
              <a:rPr lang="en-US" altLang="en-US" sz="900" dirty="0">
                <a:latin typeface="Arial" panose="020B0604020202020204" pitchFamily="34" charset="0"/>
              </a:rPr>
              <a:t>GitHub dataset + web sources</a:t>
            </a:r>
          </a:p>
          <a:p>
            <a:r>
              <a:rPr lang="en-IN" sz="900" b="1" dirty="0"/>
              <a:t>      Preprocessing: </a:t>
            </a:r>
            <a:r>
              <a:rPr lang="en-IN" sz="900" dirty="0"/>
              <a:t>Duplicate removal, Resize (128×128), Normalize image</a:t>
            </a:r>
            <a:endParaRPr lang="en-US" altLang="en-US" sz="9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900" b="1" dirty="0">
                <a:latin typeface="Arial" panose="020B0604020202020204" pitchFamily="34" charset="0"/>
              </a:rPr>
              <a:t>  Crop Dataset:</a:t>
            </a:r>
            <a:r>
              <a:rPr lang="en-US" altLang="en-US" sz="900" dirty="0">
                <a:latin typeface="Arial" panose="020B0604020202020204" pitchFamily="34" charset="0"/>
              </a:rPr>
              <a:t> 2200 samples (22 crops), </a:t>
            </a:r>
            <a:r>
              <a:rPr lang="en-US" altLang="en-US" sz="900" b="1" dirty="0">
                <a:latin typeface="Arial" panose="020B0604020202020204" pitchFamily="34" charset="0"/>
              </a:rPr>
              <a:t>Source –</a:t>
            </a:r>
            <a:r>
              <a:rPr lang="en-US" altLang="en-US" sz="900" dirty="0">
                <a:latin typeface="Arial" panose="020B0604020202020204" pitchFamily="34" charset="0"/>
              </a:rPr>
              <a:t> Kaggle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900" b="1" dirty="0"/>
              <a:t>      Preprocessing: </a:t>
            </a:r>
            <a:r>
              <a:rPr lang="en-US" altLang="en-US" sz="900" dirty="0"/>
              <a:t>Min-Max scaling, Feature normalization (N, P, K, pH, temp, humidity, rainfall)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35F516C-C33E-587C-8097-3B0A617A486F}"/>
              </a:ext>
            </a:extLst>
          </p:cNvPr>
          <p:cNvSpPr txBox="1"/>
          <p:nvPr/>
        </p:nvSpPr>
        <p:spPr>
          <a:xfrm>
            <a:off x="768620" y="2509014"/>
            <a:ext cx="44664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CNN</a:t>
            </a:r>
            <a:r>
              <a:rPr lang="en-IN" sz="900" dirty="0"/>
              <a:t>: classifies soil and maps it to NPK &amp; pH profile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Inputs: </a:t>
            </a:r>
            <a:r>
              <a:rPr lang="en-IN" sz="900" dirty="0"/>
              <a:t>soil image + weather data + optional user-input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Ensemble model</a:t>
            </a:r>
            <a:r>
              <a:rPr lang="en-IN" sz="900" dirty="0"/>
              <a:t> (Random Forest + Gradient Boosting) for prediction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Outputs:</a:t>
            </a:r>
            <a:r>
              <a:rPr lang="en-IN" sz="900" dirty="0"/>
              <a:t> Top 3 crops with confidence and profit estimation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5CA8BF0-2CC6-9BF4-9620-D0E7EB7E7C1E}"/>
              </a:ext>
            </a:extLst>
          </p:cNvPr>
          <p:cNvSpPr txBox="1"/>
          <p:nvPr/>
        </p:nvSpPr>
        <p:spPr>
          <a:xfrm>
            <a:off x="768620" y="3546023"/>
            <a:ext cx="5155809" cy="10618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IN" sz="900" b="1" dirty="0"/>
              <a:t>CNN performance:</a:t>
            </a:r>
            <a:r>
              <a:rPr lang="en-IN" sz="900" dirty="0"/>
              <a:t> ~97% train, ~95% validation. </a:t>
            </a:r>
          </a:p>
          <a:p>
            <a:r>
              <a:rPr lang="en-US" sz="900" dirty="0"/>
              <a:t>           Loss reduced consistently indicating stable training with minimal 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IN" sz="900" b="1" dirty="0"/>
              <a:t>Models compared</a:t>
            </a:r>
            <a:r>
              <a:rPr lang="en-IN" sz="900" dirty="0"/>
              <a:t>: RF</a:t>
            </a:r>
            <a:r>
              <a:rPr lang="en-US" altLang="en-US" sz="800" dirty="0">
                <a:latin typeface="Arial" panose="020B0604020202020204" pitchFamily="34" charset="0"/>
              </a:rPr>
              <a:t>(99.32%)</a:t>
            </a:r>
            <a:r>
              <a:rPr lang="en-IN" sz="900" dirty="0"/>
              <a:t>, GB</a:t>
            </a:r>
            <a:r>
              <a:rPr lang="en-US" altLang="en-US" sz="800" dirty="0">
                <a:latin typeface="Arial" panose="020B0604020202020204" pitchFamily="34" charset="0"/>
              </a:rPr>
              <a:t>(98.18%)</a:t>
            </a:r>
            <a:r>
              <a:rPr lang="en-IN" sz="900" dirty="0"/>
              <a:t>, SVM</a:t>
            </a:r>
            <a:r>
              <a:rPr lang="en-US" altLang="en-US" sz="800" dirty="0">
                <a:latin typeface="Arial" panose="020B0604020202020204" pitchFamily="34" charset="0"/>
              </a:rPr>
              <a:t>(96.82%)</a:t>
            </a:r>
            <a:r>
              <a:rPr lang="en-IN" sz="900" dirty="0"/>
              <a:t>, KNN</a:t>
            </a:r>
            <a:r>
              <a:rPr lang="en-US" altLang="en-US" sz="800" dirty="0">
                <a:latin typeface="Arial" panose="020B0604020202020204" pitchFamily="34" charset="0"/>
              </a:rPr>
              <a:t>(95.91%)</a:t>
            </a:r>
            <a:r>
              <a:rPr lang="en-IN" sz="900" dirty="0"/>
              <a:t>, DT</a:t>
            </a:r>
            <a:r>
              <a:rPr lang="en-US" altLang="en-US" sz="800" dirty="0">
                <a:latin typeface="Arial" panose="020B0604020202020204" pitchFamily="34" charset="0"/>
              </a:rPr>
              <a:t>(98.18%)</a:t>
            </a:r>
            <a:endParaRPr lang="en-IN" sz="800" dirty="0"/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IN" sz="900" b="1" dirty="0"/>
              <a:t>Optimal Model</a:t>
            </a:r>
            <a:r>
              <a:rPr lang="en-IN" sz="900" dirty="0"/>
              <a:t>: Ensemble of </a:t>
            </a:r>
            <a:r>
              <a:rPr lang="en-IN" sz="900" b="1" dirty="0"/>
              <a:t>RF</a:t>
            </a:r>
            <a:r>
              <a:rPr lang="en-IN" sz="900" dirty="0"/>
              <a:t> (99.32%) + </a:t>
            </a:r>
            <a:r>
              <a:rPr lang="en-IN" sz="900" b="1" dirty="0"/>
              <a:t>GB</a:t>
            </a:r>
            <a:r>
              <a:rPr lang="en-IN" sz="900" dirty="0"/>
              <a:t> (98.18%) </a:t>
            </a:r>
          </a:p>
          <a:p>
            <a:r>
              <a:rPr lang="en-IN" sz="900" b="1" dirty="0"/>
              <a:t>           RF </a:t>
            </a:r>
            <a:r>
              <a:rPr lang="en-IN" sz="900" dirty="0"/>
              <a:t>reduces </a:t>
            </a:r>
            <a:r>
              <a:rPr lang="en-IN" sz="900" b="1" dirty="0"/>
              <a:t>variance</a:t>
            </a:r>
            <a:r>
              <a:rPr lang="en-IN" sz="900" dirty="0"/>
              <a:t> through bagging &amp; </a:t>
            </a:r>
            <a:r>
              <a:rPr lang="en-IN" sz="900" b="1" dirty="0"/>
              <a:t>GB </a:t>
            </a:r>
            <a:r>
              <a:rPr lang="en-US" sz="900" dirty="0"/>
              <a:t>reduces </a:t>
            </a:r>
            <a:r>
              <a:rPr lang="en-US" sz="900" b="1" dirty="0"/>
              <a:t>bias</a:t>
            </a:r>
            <a:r>
              <a:rPr lang="en-US" sz="900" dirty="0"/>
              <a:t> by sequentially correcting errors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IN" sz="900" b="1" dirty="0"/>
              <a:t>Metrics</a:t>
            </a:r>
            <a:r>
              <a:rPr lang="en-IN" sz="900" dirty="0"/>
              <a:t>: Accuracy, Confusion Matrix, ROC Curve</a:t>
            </a:r>
          </a:p>
          <a:p>
            <a:endParaRPr lang="en-IN" sz="900" dirty="0"/>
          </a:p>
        </p:txBody>
      </p:sp>
    </p:spTree>
    <p:extLst>
      <p:ext uri="{BB962C8B-B14F-4D97-AF65-F5344CB8AC3E}">
        <p14:creationId xmlns:p14="http://schemas.microsoft.com/office/powerpoint/2010/main" val="4162003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0D5C73"/>
          </a:solidFill>
          <a:ln w="12700">
            <a:solidFill>
              <a:srgbClr val="0D5C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27432"/>
          </a:xfrm>
          <a:prstGeom prst="rect">
            <a:avLst/>
          </a:prstGeom>
          <a:solidFill>
            <a:srgbClr val="C8873C"/>
          </a:solidFill>
          <a:ln w="12700">
            <a:solidFill>
              <a:srgbClr val="C887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Architecture of Smart Crop Recommendation System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5C73"/>
          </a:solidFill>
          <a:ln w="12700">
            <a:solidFill>
              <a:srgbClr val="0D5C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873752"/>
            <a:ext cx="77724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 2026  ·  April 1-2, 2026  ·  University of Nizwa, Oman  ·  isaa2026@unizwa.edu.om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4873752"/>
            <a:ext cx="54864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[Page]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38988" y="1081014"/>
            <a:ext cx="3940420" cy="3084591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D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234440" y="139903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234440" y="26060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10252" y="1081014"/>
            <a:ext cx="4673228" cy="3065790"/>
          </a:xfrm>
          <a:prstGeom prst="rect">
            <a:avLst/>
          </a:prstGeom>
          <a:solidFill>
            <a:srgbClr val="EAF4F8"/>
          </a:solidFill>
          <a:ln w="12700">
            <a:solidFill>
              <a:srgbClr val="C8D4D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86400" y="914400"/>
            <a:ext cx="329184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551D5A49-9D76-CFA5-D9A9-E386D4F497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085" y="1367101"/>
            <a:ext cx="4485422" cy="2663454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1A7552B1-CDA7-9B5F-2733-B36DE1259510}"/>
              </a:ext>
            </a:extLst>
          </p:cNvPr>
          <p:cNvSpPr txBox="1"/>
          <p:nvPr/>
        </p:nvSpPr>
        <p:spPr>
          <a:xfrm>
            <a:off x="310252" y="1087039"/>
            <a:ext cx="46092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i="1" dirty="0"/>
              <a:t>CNN-Based Soil Classification Architecture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5A61C98-0C1A-D0FC-75D0-DAF0821834F2}"/>
              </a:ext>
            </a:extLst>
          </p:cNvPr>
          <p:cNvSpPr txBox="1"/>
          <p:nvPr/>
        </p:nvSpPr>
        <p:spPr>
          <a:xfrm>
            <a:off x="438153" y="1852038"/>
            <a:ext cx="76146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i="1" dirty="0"/>
              <a:t>Soil Image 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64E41723-FA79-0E65-B92F-DCFB41FAD8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5952" y="1448786"/>
            <a:ext cx="3786491" cy="2241356"/>
          </a:xfrm>
          <a:prstGeom prst="rect">
            <a:avLst/>
          </a:prstGeom>
        </p:spPr>
      </p:pic>
      <p:sp>
        <p:nvSpPr>
          <p:cNvPr id="55" name="Arrow: Right 54">
            <a:extLst>
              <a:ext uri="{FF2B5EF4-FFF2-40B4-BE49-F238E27FC236}">
                <a16:creationId xmlns:a16="http://schemas.microsoft.com/office/drawing/2014/main" id="{40C9A831-1A86-9C6A-48C1-1A2BDFE66FEF}"/>
              </a:ext>
            </a:extLst>
          </p:cNvPr>
          <p:cNvSpPr/>
          <p:nvPr/>
        </p:nvSpPr>
        <p:spPr>
          <a:xfrm rot="16200000">
            <a:off x="5359482" y="3244586"/>
            <a:ext cx="278283" cy="2102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6" name="Shape 22">
            <a:extLst>
              <a:ext uri="{FF2B5EF4-FFF2-40B4-BE49-F238E27FC236}">
                <a16:creationId xmlns:a16="http://schemas.microsoft.com/office/drawing/2014/main" id="{3F40EA56-8294-EFD5-FEBF-2348F90CF317}"/>
              </a:ext>
            </a:extLst>
          </p:cNvPr>
          <p:cNvSpPr/>
          <p:nvPr/>
        </p:nvSpPr>
        <p:spPr>
          <a:xfrm>
            <a:off x="5197014" y="3488857"/>
            <a:ext cx="1414801" cy="521325"/>
          </a:xfrm>
          <a:prstGeom prst="rect">
            <a:avLst/>
          </a:prstGeom>
          <a:solidFill>
            <a:srgbClr val="EAF4F8"/>
          </a:solidFill>
          <a:ln w="12700">
            <a:solidFill>
              <a:srgbClr val="C8D4D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8D34A8C1-D029-5849-E444-A8260F5A99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0514" y="3530980"/>
            <a:ext cx="1349666" cy="457372"/>
          </a:xfrm>
          <a:prstGeom prst="rect">
            <a:avLst/>
          </a:prstGeom>
        </p:spPr>
      </p:pic>
      <p:sp>
        <p:nvSpPr>
          <p:cNvPr id="57" name="Shape 22">
            <a:extLst>
              <a:ext uri="{FF2B5EF4-FFF2-40B4-BE49-F238E27FC236}">
                <a16:creationId xmlns:a16="http://schemas.microsoft.com/office/drawing/2014/main" id="{1BB054A1-CD23-4881-9A20-2C2100D48954}"/>
              </a:ext>
            </a:extLst>
          </p:cNvPr>
          <p:cNvSpPr/>
          <p:nvPr/>
        </p:nvSpPr>
        <p:spPr>
          <a:xfrm>
            <a:off x="5115952" y="1116970"/>
            <a:ext cx="3786491" cy="247914"/>
          </a:xfrm>
          <a:prstGeom prst="rect">
            <a:avLst/>
          </a:prstGeom>
          <a:solidFill>
            <a:srgbClr val="EAF4F8"/>
          </a:solidFill>
          <a:ln w="12700">
            <a:solidFill>
              <a:srgbClr val="C8D4D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E69F2D6-4F50-2321-1CA2-60BB9E953454}"/>
              </a:ext>
            </a:extLst>
          </p:cNvPr>
          <p:cNvSpPr txBox="1"/>
          <p:nvPr/>
        </p:nvSpPr>
        <p:spPr>
          <a:xfrm>
            <a:off x="4919472" y="1110383"/>
            <a:ext cx="42171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/>
              <a:t>Crop Recommendation using Ensemble Learning (RF + GB)</a:t>
            </a:r>
            <a:endParaRPr lang="en-IN" sz="1200" b="1" i="1" dirty="0"/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368E08FE-78F2-B051-CAA5-EF3BB03EF490}"/>
              </a:ext>
            </a:extLst>
          </p:cNvPr>
          <p:cNvSpPr/>
          <p:nvPr/>
        </p:nvSpPr>
        <p:spPr>
          <a:xfrm>
            <a:off x="4780668" y="2497345"/>
            <a:ext cx="377605" cy="26974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0D5C73"/>
          </a:solidFill>
          <a:ln w="12700">
            <a:solidFill>
              <a:srgbClr val="0D5C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27432"/>
          </a:xfrm>
          <a:prstGeom prst="rect">
            <a:avLst/>
          </a:prstGeom>
          <a:solidFill>
            <a:srgbClr val="C8873C"/>
          </a:solidFill>
          <a:ln w="12700">
            <a:solidFill>
              <a:srgbClr val="C887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Results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5C73"/>
          </a:solidFill>
          <a:ln w="12700">
            <a:solidFill>
              <a:srgbClr val="0D5C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873752"/>
            <a:ext cx="77724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 2026  ·  April 1-2, 2026  ·  University of Nizwa, Oman  ·  isaa2026@unizwa.edu.om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4873752"/>
            <a:ext cx="54864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[Page]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868680"/>
            <a:ext cx="1920240" cy="1051560"/>
          </a:xfrm>
          <a:prstGeom prst="rect">
            <a:avLst/>
          </a:prstGeom>
          <a:solidFill>
            <a:srgbClr val="0D5C73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86868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99.3%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65760" y="1527048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(Test Set)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468880" y="868680"/>
            <a:ext cx="1920240" cy="1051560"/>
          </a:xfrm>
          <a:prstGeom prst="rect">
            <a:avLst/>
          </a:prstGeom>
          <a:solidFill>
            <a:srgbClr val="C8873C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468880" y="86868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468880" y="1527048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(Macro Avg)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0" y="868680"/>
            <a:ext cx="1920240" cy="1051560"/>
          </a:xfrm>
          <a:prstGeom prst="rect">
            <a:avLst/>
          </a:prstGeom>
          <a:solidFill>
            <a:srgbClr val="0D5C73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0" y="86868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572000" y="1527048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</a:p>
          <a:p>
            <a:pPr algn="ctr"/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IN" sz="1000" dirty="0">
                <a:solidFill>
                  <a:schemeClr val="bg1"/>
                </a:solidFill>
              </a:rPr>
              <a:t>Proposed Model)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675120" y="868680"/>
            <a:ext cx="1920240" cy="1051560"/>
          </a:xfrm>
          <a:prstGeom prst="rect">
            <a:avLst/>
          </a:prstGeom>
          <a:solidFill>
            <a:srgbClr val="C8873C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675120" y="86868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4,737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675120" y="1600608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r>
              <a:rPr lang="en-US" sz="950" dirty="0"/>
              <a:t> 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</a:t>
            </a:r>
            <a:endParaRPr lang="en-US" sz="9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154882"/>
              </p:ext>
            </p:extLst>
          </p:nvPr>
        </p:nvGraphicFramePr>
        <p:xfrm>
          <a:off x="365760" y="2057400"/>
          <a:ext cx="8412480" cy="1901952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7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7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7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</a:t>
                      </a:r>
                      <a:r>
                        <a:rPr lang="en-IN" sz="1200" dirty="0"/>
                        <a:t>(Traditional ML)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200" dirty="0"/>
                        <a:t>Individual Model (RF)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5C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Method (</a:t>
                      </a:r>
                      <a:r>
                        <a:rPr lang="en-IN" sz="1200" b="1" dirty="0">
                          <a:solidFill>
                            <a:srgbClr val="0D5C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Ensemble RF + GB</a:t>
                      </a:r>
                      <a:r>
                        <a:rPr lang="en-US" sz="1200" b="1" dirty="0">
                          <a:solidFill>
                            <a:srgbClr val="0D5C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5C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≈99.3%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5C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5C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FD19359A-8A51-0A2C-0C06-21B101A5BD90}"/>
              </a:ext>
            </a:extLst>
          </p:cNvPr>
          <p:cNvSpPr txBox="1"/>
          <p:nvPr/>
        </p:nvSpPr>
        <p:spPr>
          <a:xfrm>
            <a:off x="495300" y="4107180"/>
            <a:ext cx="54711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Ensemble improves </a:t>
            </a:r>
            <a:r>
              <a:rPr lang="en-US" sz="1200" b="1" dirty="0"/>
              <a:t>robustness and consistency</a:t>
            </a:r>
            <a:r>
              <a:rPr lang="en-US" sz="1200" dirty="0"/>
              <a:t>, not just accuracy</a:t>
            </a:r>
            <a:endParaRPr lang="en-IN" sz="1200" dirty="0"/>
          </a:p>
        </p:txBody>
      </p:sp>
      <p:sp>
        <p:nvSpPr>
          <p:cNvPr id="24" name="Rectangle 1">
            <a:extLst>
              <a:ext uri="{FF2B5EF4-FFF2-40B4-BE49-F238E27FC236}">
                <a16:creationId xmlns:a16="http://schemas.microsoft.com/office/drawing/2014/main" id="{E0FE1A33-D3C8-0241-CAED-E2B1F20173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3720" y="1399440"/>
            <a:ext cx="1463040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(Soil: 2537, Crop: 2200)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0D5C73"/>
          </a:solidFill>
          <a:ln w="12700">
            <a:solidFill>
              <a:srgbClr val="0D5C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27432"/>
          </a:xfrm>
          <a:prstGeom prst="rect">
            <a:avLst/>
          </a:prstGeom>
          <a:solidFill>
            <a:srgbClr val="C8873C"/>
          </a:solidFill>
          <a:ln w="12700">
            <a:solidFill>
              <a:srgbClr val="C887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&amp; Analysis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5C73"/>
          </a:solidFill>
          <a:ln w="12700">
            <a:solidFill>
              <a:srgbClr val="0D5C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873752"/>
            <a:ext cx="77724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 2026  ·  April 1-2, 2026  ·  University of Nizwa, Oman  ·  isaa2026@unizwa.edu.om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4873752"/>
            <a:ext cx="54864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[Page]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005840"/>
            <a:ext cx="41148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D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65760" y="1005840"/>
            <a:ext cx="4114800" cy="384048"/>
          </a:xfrm>
          <a:prstGeom prst="rect">
            <a:avLst/>
          </a:prstGeom>
          <a:solidFill>
            <a:srgbClr val="0D5C73"/>
          </a:solidFill>
          <a:ln w="12700">
            <a:solidFill>
              <a:srgbClr val="0D5C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" y="1005840"/>
            <a:ext cx="3895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1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75488" y="1444752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846320" y="1005840"/>
            <a:ext cx="41148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D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46320" y="1005840"/>
            <a:ext cx="4114800" cy="384048"/>
          </a:xfrm>
          <a:prstGeom prst="rect">
            <a:avLst/>
          </a:prstGeom>
          <a:solidFill>
            <a:srgbClr val="C8873C"/>
          </a:solidFill>
          <a:ln w="12700">
            <a:solidFill>
              <a:srgbClr val="C8873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956048" y="1005840"/>
            <a:ext cx="3895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2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956048" y="1444752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2926080"/>
            <a:ext cx="41148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D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365760" y="2926080"/>
            <a:ext cx="4114800" cy="384048"/>
          </a:xfrm>
          <a:prstGeom prst="rect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" y="2926080"/>
            <a:ext cx="3895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75488" y="3364992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846320" y="2926080"/>
            <a:ext cx="41148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D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846320" y="2926080"/>
            <a:ext cx="4114800" cy="384048"/>
          </a:xfrm>
          <a:prstGeom prst="rect">
            <a:avLst/>
          </a:prstGeom>
          <a:solidFill>
            <a:srgbClr val="6B7A8D"/>
          </a:solidFill>
          <a:ln w="12700">
            <a:solidFill>
              <a:srgbClr val="6B7A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56048" y="2926080"/>
            <a:ext cx="3895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956048" y="3364992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25" name="Rectangle 1">
            <a:extLst>
              <a:ext uri="{FF2B5EF4-FFF2-40B4-BE49-F238E27FC236}">
                <a16:creationId xmlns:a16="http://schemas.microsoft.com/office/drawing/2014/main" id="{148409C1-1283-B3B3-1B5B-3C07AE365F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472" y="1325144"/>
            <a:ext cx="4206240" cy="11926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proposed system achieved high accuracy with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CNN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(~95%) and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ensemble ML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(~99%) 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Integration of </a:t>
            </a:r>
            <a:r>
              <a:rPr lang="en-US" sz="1050" b="1" dirty="0"/>
              <a:t>soil images, weather data, and </a:t>
            </a:r>
            <a:r>
              <a:rPr lang="en-IN" sz="1050" b="1" dirty="0"/>
              <a:t>user-input parameters</a:t>
            </a:r>
            <a:r>
              <a:rPr lang="en-US" sz="1050" b="1" dirty="0"/>
              <a:t>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significantly improved prediction reliability 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IN" sz="1100" b="1" dirty="0"/>
              <a:t>Core Insight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n-US" altLang="en-US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combining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visual soil features </a:t>
            </a:r>
            <a:r>
              <a:rPr kumimoji="0" lang="en-US" altLang="en-US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with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environmental data </a:t>
            </a:r>
            <a:r>
              <a:rPr lang="en-US" sz="1000" dirty="0">
                <a:cs typeface="Arial" panose="020B0604020202020204" pitchFamily="34" charset="0"/>
              </a:rPr>
              <a:t>leads to more accurate crop recommendations than traditional methods</a:t>
            </a:r>
            <a:endParaRPr kumimoji="0" lang="en-US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26" name="Rectangle 2">
            <a:extLst>
              <a:ext uri="{FF2B5EF4-FFF2-40B4-BE49-F238E27FC236}">
                <a16:creationId xmlns:a16="http://schemas.microsoft.com/office/drawing/2014/main" id="{D7CE5BCE-DCE6-3542-73DC-D22A06D965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6320" y="1272534"/>
            <a:ext cx="412242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Incorporation of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real-time weather data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enables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adaptive and context-aware recommendations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Ensemble approach (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RF + GB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improves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stability and generalization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compared to individual models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Core Insight: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hybrid AI framework (Deep Learning + Ensemble ML)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provides more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robust and reliable predictions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than standalone approaches </a:t>
            </a: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F95C8160-3FDC-E7F7-E15F-0FA7D63A62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3015" y="3092337"/>
            <a:ext cx="4360985" cy="15465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Integration of </a:t>
            </a: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IoT-based soil and weather sensors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real-time nutrient </a:t>
            </a:r>
            <a:r>
              <a:rPr lang="en-US" altLang="en-US" sz="1050" dirty="0"/>
              <a:t>and weather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monitoring </a:t>
            </a:r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1050" dirty="0"/>
              <a:t>Improve soil classification by leveraging </a:t>
            </a:r>
            <a:r>
              <a:rPr lang="en-US" sz="1050" b="1" dirty="0"/>
              <a:t>advanced feature learning from soil images (texture, structure,</a:t>
            </a:r>
            <a:r>
              <a:rPr lang="en-IN" sz="1050" dirty="0"/>
              <a:t> </a:t>
            </a:r>
            <a:r>
              <a:rPr lang="en-IN" sz="1050" b="1" dirty="0"/>
              <a:t>Moisture</a:t>
            </a:r>
            <a:r>
              <a:rPr lang="en-IN" sz="1050" dirty="0"/>
              <a:t> </a:t>
            </a:r>
            <a:r>
              <a:rPr lang="en-US" sz="1050" b="1" dirty="0"/>
              <a:t>)</a:t>
            </a:r>
            <a:r>
              <a:rPr lang="en-US" altLang="en-US" sz="1050" dirty="0"/>
              <a:t> 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Development of a </a:t>
            </a: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mobile application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easy farmer access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Support for </a:t>
            </a: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offline/edge deployment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low-connectivity areas</a:t>
            </a:r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050" dirty="0"/>
              <a:t>Expansion with </a:t>
            </a:r>
            <a:r>
              <a:rPr lang="en-US" altLang="en-US" sz="1050" b="1" dirty="0"/>
              <a:t>region-specific and larger datasets</a:t>
            </a:r>
            <a:r>
              <a:rPr lang="en-US" altLang="en-US" sz="1050" dirty="0"/>
              <a:t> for better generalization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C93A1C5-3534-2A6E-426A-0FE2DC7F2940}"/>
              </a:ext>
            </a:extLst>
          </p:cNvPr>
          <p:cNvSpPr txBox="1"/>
          <p:nvPr/>
        </p:nvSpPr>
        <p:spPr>
          <a:xfrm>
            <a:off x="475488" y="3364992"/>
            <a:ext cx="3738372" cy="1001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9" name="Rectangle 4">
            <a:extLst>
              <a:ext uri="{FF2B5EF4-FFF2-40B4-BE49-F238E27FC236}">
                <a16:creationId xmlns:a16="http://schemas.microsoft.com/office/drawing/2014/main" id="{9C0A6F47-87E9-6B2E-B625-FDA3A9B578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327" y="3136873"/>
            <a:ext cx="4114801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Dependency on </a:t>
            </a: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internet connectivity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real-time weather API 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1050" dirty="0"/>
              <a:t>When only an image is provided, soil nutrient values are derived from </a:t>
            </a:r>
            <a:r>
              <a:rPr lang="en-US" sz="1050" b="1" dirty="0"/>
              <a:t>standard agronomic databases</a:t>
            </a:r>
            <a:r>
              <a:rPr lang="en-US" sz="1050" dirty="0"/>
              <a:t> and represent </a:t>
            </a:r>
            <a:r>
              <a:rPr lang="en-US" sz="1050" b="1" dirty="0"/>
              <a:t>typical soil profiles</a:t>
            </a:r>
            <a:r>
              <a:rPr lang="en-US" sz="1050" dirty="0"/>
              <a:t>, not exact field measurements</a:t>
            </a:r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050" dirty="0"/>
              <a:t>Limited size and diversity of the </a:t>
            </a:r>
            <a:r>
              <a:rPr lang="en-US" altLang="en-US" sz="1050" b="1" dirty="0"/>
              <a:t>soil image dataset</a:t>
            </a:r>
            <a:r>
              <a:rPr lang="en-US" altLang="en-US" sz="1050" dirty="0"/>
              <a:t> </a:t>
            </a:r>
            <a:endParaRPr lang="en-US" sz="1050" dirty="0"/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Model performance may vary across </a:t>
            </a: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different regions and soil conditions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5C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873C"/>
          </a:solidFill>
          <a:ln w="12700">
            <a:solidFill>
              <a:srgbClr val="C887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80467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77240" y="1024128"/>
            <a:ext cx="7589520" cy="2706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57200" y="3986784"/>
            <a:ext cx="822960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i="1" dirty="0">
                <a:solidFill>
                  <a:srgbClr val="F5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Acknowledgements: We thank NIT AP for support and Resources.</a:t>
            </a:r>
          </a:p>
          <a:p>
            <a:pPr algn="ctr"/>
            <a:r>
              <a:rPr lang="en-US" sz="1100" i="1" dirty="0">
                <a:solidFill>
                  <a:srgbClr val="F5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 thank Faculty Mentor(USHA) for guidance,</a:t>
            </a:r>
          </a:p>
          <a:p>
            <a:pPr algn="ctr"/>
            <a:r>
              <a:rPr lang="en-US" sz="1100" i="1" dirty="0">
                <a:solidFill>
                  <a:srgbClr val="F5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We Acknowledge Public Datasets: </a:t>
            </a:r>
            <a:r>
              <a:rPr lang="en-IN" sz="1100" dirty="0">
                <a:solidFill>
                  <a:schemeClr val="bg1"/>
                </a:solidFill>
              </a:rPr>
              <a:t>GitHub, Kaggle, </a:t>
            </a:r>
            <a:r>
              <a:rPr lang="en-IN" sz="1100" dirty="0" err="1">
                <a:solidFill>
                  <a:schemeClr val="bg1"/>
                </a:solidFill>
              </a:rPr>
              <a:t>SoilGrids</a:t>
            </a:r>
            <a:r>
              <a:rPr lang="en-IN" sz="1100" dirty="0">
                <a:solidFill>
                  <a:schemeClr val="bg1"/>
                </a:solidFill>
              </a:rPr>
              <a:t>, ICAR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C8873C"/>
          </a:solidFill>
          <a:ln w="12700">
            <a:solidFill>
              <a:srgbClr val="C887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 2026  ·  April 1-2, 2026  ·  University of Nizwa, Oman  ·  isaa2026@unizwa.edu.om</a:t>
            </a:r>
            <a:endParaRPr lang="en-US" sz="950" dirty="0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1C63B7C1-D420-BA21-0D2D-76246C9885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088" y="1458354"/>
            <a:ext cx="7662672" cy="1517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Core Contribution: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Developed a hybrid AI system combining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CNN + Ensemble ML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intelligent crop recommendation </a:t>
            </a:r>
          </a:p>
          <a:p>
            <a:pPr marL="171450" marR="0" lvl="0" indent="-1714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Impact: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Achieved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~95% accuracy (CNN)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~99% accuracy (ML)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improving reliability over traditional methods </a:t>
            </a:r>
          </a:p>
          <a:p>
            <a:pPr marL="171450" marR="0" lvl="0" indent="-1714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Novelty: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Integrates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soil images + real-time weather + user-input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unlike existing single-input systems </a:t>
            </a:r>
          </a:p>
          <a:p>
            <a:pPr marL="171450" marR="0" lvl="0" indent="-1714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Future Direction: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Extend with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IoT-based sensing, mobile deployment, and region-specific datasets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0D5C73"/>
          </a:solidFill>
          <a:ln w="12700">
            <a:solidFill>
              <a:srgbClr val="0D5C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64008" cy="5143500"/>
          </a:xfrm>
          <a:prstGeom prst="rect">
            <a:avLst/>
          </a:prstGeom>
          <a:solidFill>
            <a:srgbClr val="C8873C"/>
          </a:solidFill>
          <a:ln w="12700">
            <a:solidFill>
              <a:srgbClr val="C887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82880" y="12801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</a:p>
          <a:p>
            <a:pPr marL="0" indent="0" algn="ctr">
              <a:buNone/>
            </a:pPr>
            <a:endParaRPr lang="en-US" sz="38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82880" y="22860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5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2880" y="29260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C8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by</a:t>
            </a:r>
            <a:endParaRPr lang="en-US" sz="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" y="3120390"/>
            <a:ext cx="1828800" cy="502920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37359" y="3703319"/>
            <a:ext cx="709005" cy="70900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0612" y="3712102"/>
            <a:ext cx="800100" cy="67105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389120" y="10058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2000" dirty="0"/>
          </a:p>
        </p:txBody>
      </p:sp>
      <p:sp>
        <p:nvSpPr>
          <p:cNvPr id="12" name="Shape 6"/>
          <p:cNvSpPr/>
          <p:nvPr/>
        </p:nvSpPr>
        <p:spPr>
          <a:xfrm>
            <a:off x="4389120" y="1481328"/>
            <a:ext cx="4389120" cy="36576"/>
          </a:xfrm>
          <a:prstGeom prst="rect">
            <a:avLst/>
          </a:prstGeom>
          <a:solidFill>
            <a:srgbClr val="C8873C"/>
          </a:solidFill>
          <a:ln w="12700">
            <a:solidFill>
              <a:srgbClr val="C887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7"/>
          <p:cNvSpPr/>
          <p:nvPr/>
        </p:nvSpPr>
        <p:spPr>
          <a:xfrm>
            <a:off x="4389120" y="1645920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0D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</a:t>
            </a: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Pindi Venkata Nageswara Rao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4389120" y="2121408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0D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Affiliation: </a:t>
            </a:r>
            <a:r>
              <a:rPr lang="en-IN" sz="1400" dirty="0"/>
              <a:t>Dept. of ECE,</a:t>
            </a:r>
            <a:r>
              <a:rPr lang="en-US" sz="1300" b="1" dirty="0">
                <a:solidFill>
                  <a:srgbClr val="0D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/>
              <a:t>NIT Andhra Pradesh</a:t>
            </a:r>
          </a:p>
        </p:txBody>
      </p:sp>
      <p:sp>
        <p:nvSpPr>
          <p:cNvPr id="15" name="Text 9"/>
          <p:cNvSpPr/>
          <p:nvPr/>
        </p:nvSpPr>
        <p:spPr>
          <a:xfrm>
            <a:off x="4389120" y="2596896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</a:t>
            </a: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pindivenkat24@gmail.com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4389120" y="3072384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Conference: </a:t>
            </a: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isaa2026@unizwa.edu.om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4389120" y="3547872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Website: </a:t>
            </a: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unizwa.edu.om/ISAA2026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4389120" y="4251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Sponsors:</a:t>
            </a:r>
            <a:endParaRPr lang="en-US" sz="850" dirty="0"/>
          </a:p>
        </p:txBody>
      </p:sp>
      <p:sp>
        <p:nvSpPr>
          <p:cNvPr id="20" name="Text 14"/>
          <p:cNvSpPr/>
          <p:nvPr/>
        </p:nvSpPr>
        <p:spPr>
          <a:xfrm>
            <a:off x="5257800" y="427939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OMRAN</a:t>
            </a:r>
            <a:endParaRPr lang="en-US" sz="10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2DF6152-F796-66BF-E56A-6D31A1FF59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7800" y="4237985"/>
            <a:ext cx="2356006" cy="44513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2BBF2CB-C422-4256-1890-47807579FE9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60" y="3595714"/>
            <a:ext cx="1885764" cy="97628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2" descr="ISAA 2026 Logo">
            <a:extLst>
              <a:ext uri="{FF2B5EF4-FFF2-40B4-BE49-F238E27FC236}">
                <a16:creationId xmlns:a16="http://schemas.microsoft.com/office/drawing/2014/main" id="{2BC8B180-D8A9-E469-B5C9-EB35C3363B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117" y="1530420"/>
            <a:ext cx="733693" cy="744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3271</TotalTime>
  <Words>1202</Words>
  <Application>Microsoft Office PowerPoint</Application>
  <PresentationFormat>On-screen Show (16:9)</PresentationFormat>
  <Paragraphs>164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ISAA 2026 Presentation Template</dc:title>
  <dc:subject>PptxGenJS Presentation</dc:subject>
  <dc:creator>PptxGenJS</dc:creator>
  <cp:lastModifiedBy>Venkat Nageswa Rao</cp:lastModifiedBy>
  <cp:revision>15</cp:revision>
  <dcterms:created xsi:type="dcterms:W3CDTF">2026-03-22T15:06:53Z</dcterms:created>
  <dcterms:modified xsi:type="dcterms:W3CDTF">2026-04-01T05:43:38Z</dcterms:modified>
</cp:coreProperties>
</file>